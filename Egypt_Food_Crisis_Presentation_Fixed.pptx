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7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04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4434840"/>
            <a:ext cx="8887968" cy="0"/>
          </a:xfrm>
          <a:prstGeom prst="line">
            <a:avLst/>
          </a:prstGeom>
          <a:noFill/>
          <a:ln w="25400">
            <a:solidFill>
              <a:srgbClr val="C47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 Food Crisis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AA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two currency devaluations reshaped what 105 million people can afford to eat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C-DE211: Data Analysis  ·  Project 3  ·  Egypt University of Informatics  ·  Spring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WFP Food Prices (16,000+ records)  ·  WFP Market Metadata  ·  FAO Food Security Indicators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1920240" cy="132588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374136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410657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Undernourishment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337560"/>
            <a:ext cx="1920240" cy="132588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3374136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410657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undernourishment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1920240" cy="132588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3374136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p&lt;0.05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410657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337560"/>
            <a:ext cx="1920240" cy="132588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3374136"/>
            <a:ext cx="19202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R²=0.9962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4106570"/>
            <a:ext cx="19202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5029200" cy="0"/>
          </a:xfrm>
          <a:prstGeom prst="line">
            <a:avLst/>
          </a:prstGeom>
          <a:noFill/>
          <a:ln w="25400">
            <a:solidFill>
              <a:srgbClr val="C47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imports more wheat than almost any country on earth. The food system runs on US dollars — grain, cooking oil, animal feed. But 105 million people earn and spend in Egyptian pounds.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pound falls, the gap between what food costs to import and what households can pay closes badly, and fast.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November 2016 float cut the pound's value in half in a single day: from EGP 8.8 to 18 per USD. Retail food prices followed within the same quarter.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sequence was worse in absolute terms — it coincided with Russia's invasion of Ukraine, disrupting the exact grain corridors Egypt depends on most. By early 2023 the rate exceeded 30 EGP/USD.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548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548640"/>
            <a:ext cx="2560320" cy="347472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548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Devaluation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932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8.8 → 18 per USD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3, 2016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overnight loss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560320" cy="347472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Devaluations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3957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15.7 → 30+ per USD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rounds: Mar–Dec 2022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by war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2560320" cy="347472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by 2024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85876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Undernourishment: 9.4%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6.4% in 2019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million more people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Methodology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3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651760" cy="347472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91440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Food Prices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651760" cy="137160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wfp_food_prices_egy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retail prices for 30+ commodities across Egypt's governorates, January 2010 – mid 2024. 16,234 observations after cleaning. Cereals, pulses, oils, dairy, meat, vegetables.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51760" cy="347472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91440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Market Metadata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651760" cy="137160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wfp_markets_egy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and geographic data for each monitored market — governorate, market type (retail/wholesale), coordinates. Enables the Cairo vs. national comparison in H2.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47472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53912" y="91440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Food Security Indicators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261872"/>
            <a:ext cx="2651760" cy="137160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fao_indicators_summary_egy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series 2002–2024: Undernourishment (PoU), Moderate/Severe Food Insecurity, Severe Food Insecurity, and Cereal Import Dependency Ratio (CIDR).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1554480" cy="173736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154680"/>
            <a:ext cx="1554480" cy="32004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35204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Engineering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" y="38953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names, MoM inflation, pre/post flags, staple classification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84832" y="3154680"/>
            <a:ext cx="1554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84832" y="3154680"/>
            <a:ext cx="1554480" cy="32004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21408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57984" y="35204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57984" y="38953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annual boxplots, correlation heatmaps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58184" y="3154680"/>
            <a:ext cx="1554480" cy="173736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58184" y="3154680"/>
            <a:ext cx="1554480" cy="32004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94760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31336" y="35204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31336" y="38953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(H1 &amp; H2), one-way ANOVA (H3)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3154680"/>
            <a:ext cx="1554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31536" y="3154680"/>
            <a:ext cx="1554480" cy="32004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68112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04688" y="35204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04688" y="38953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matrix across all 30+ commodity pairs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04888" y="3154680"/>
            <a:ext cx="1554480" cy="173736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104888" y="3154680"/>
            <a:ext cx="1554480" cy="32004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41464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78040" y="35204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3895344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R² evaluation + residual inspection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FAO Food Security Indicators — Egypt (2002–2024)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4 / 14</a:t>
            </a:r>
            <a:endParaRPr lang="en-US" sz="800" dirty="0"/>
          </a:p>
        </p:txBody>
      </p:sp>
      <p:pic>
        <p:nvPicPr>
          <p:cNvPr id="5" name="Image 0" descr="/home/claude/fao_indicators_summa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96112"/>
            <a:ext cx="57607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896112"/>
            <a:ext cx="2423160" cy="868680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0" y="932688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0" y="1399946"/>
            <a:ext cx="242316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Undernourishment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2024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2423160" cy="86868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1911096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0" y="2378354"/>
            <a:ext cx="242316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since 2010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(4.9% in 2010 → 9.4% in 2024)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0" y="2852928"/>
            <a:ext cx="2423160" cy="86868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2889504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0" y="3356762"/>
            <a:ext cx="242316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cereal import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(2019–20)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0" y="3831336"/>
            <a:ext cx="2423160" cy="86868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3867912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33.4%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00800" y="4335170"/>
            <a:ext cx="242316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Moderate/severe food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insecurity, 2024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70916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= 2016 devaluation  ·  Grey dotted = 2022 devaluation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Undernourishment Rate — A 20-Year 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5 / 14</a:t>
            </a:r>
            <a:endParaRPr lang="en-US" sz="800" dirty="0"/>
          </a:p>
        </p:txBody>
      </p:sp>
      <p:pic>
        <p:nvPicPr>
          <p:cNvPr id="5" name="Image 0" descr="/home/claude/undernourishment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83210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206240"/>
            <a:ext cx="2697480" cy="713232"/>
          </a:xfrm>
          <a:prstGeom prst="rect">
            <a:avLst/>
          </a:prstGeom>
          <a:solidFill>
            <a:srgbClr val="F5E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4206240"/>
            <a:ext cx="54864" cy="713232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" y="4270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9496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near 5%.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pre-devaluation era.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4206240"/>
            <a:ext cx="2697480" cy="713232"/>
          </a:xfrm>
          <a:prstGeom prst="rect">
            <a:avLst/>
          </a:prstGeom>
          <a:solidFill>
            <a:srgbClr val="F5E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4206240"/>
            <a:ext cx="54864" cy="713232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74136" y="4270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Float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74136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uptick.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shock precedes welfare decline by ~2 years.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4206240"/>
            <a:ext cx="2697480" cy="713232"/>
          </a:xfrm>
          <a:prstGeom prst="rect">
            <a:avLst/>
          </a:prstGeom>
          <a:solidFill>
            <a:srgbClr val="F5E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80760" y="4206240"/>
            <a:ext cx="54864" cy="713232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08776" y="42702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08776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to 9.4%.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 above the 2019 level of 6.4%.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Commodity Prices 2010–2024 — The Two Shocks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6 / 14</a:t>
            </a:r>
            <a:endParaRPr lang="en-US" sz="800" dirty="0"/>
          </a:p>
        </p:txBody>
      </p:sp>
      <p:pic>
        <p:nvPicPr>
          <p:cNvPr id="5" name="Image 0" descr="/home/claude/timeseries_static_improv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83210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187952"/>
            <a:ext cx="2697480" cy="749808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4187952"/>
            <a:ext cx="54864" cy="749808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" y="4251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9496" y="44622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flat.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pegged, stable.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4187952"/>
            <a:ext cx="2697480" cy="749808"/>
          </a:xfrm>
          <a:prstGeom prst="rect">
            <a:avLst/>
          </a:prstGeom>
          <a:solidFill>
            <a:srgbClr val="F0E0C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4187952"/>
            <a:ext cx="54864" cy="749808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74136" y="4251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Shock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74136" y="44622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Sunflower oil: 5 → 23 EGP.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Sugar: 5 → 14 EGP.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4187952"/>
            <a:ext cx="2697480" cy="749808"/>
          </a:xfrm>
          <a:prstGeom prst="rect">
            <a:avLst/>
          </a:prstGeom>
          <a:solidFill>
            <a:srgbClr val="F5E0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80760" y="4187952"/>
            <a:ext cx="54864" cy="749808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08776" y="4251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Shock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08776" y="44622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→ 41 EGP. Sugar → 45 EGP.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flour: 7 → 13 EGP.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— Price Distributions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7 / 14</a:t>
            </a:r>
            <a:endParaRPr lang="en-US" sz="800" dirty="0"/>
          </a:p>
        </p:txBody>
      </p:sp>
      <p:pic>
        <p:nvPicPr>
          <p:cNvPr id="5" name="Image 0" descr="/home/claude/yearly_boxplo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4297680" cy="2560320"/>
          </a:xfrm>
          <a:prstGeom prst="rect">
            <a:avLst/>
          </a:prstGeom>
        </p:spPr>
      </p:pic>
      <p:pic>
        <p:nvPicPr>
          <p:cNvPr id="6" name="Image 1" descr="/home/claude/price_distribu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914400"/>
            <a:ext cx="39319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520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A · Annual box plots (2010–2024)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rose from ~8 EGP to ~27 EGP. IQR exploded post-2022.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84632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B · Per-commodity histograms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patterns = two structural price eras (pre-2016 + post-2022).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11480" y="4041648"/>
            <a:ext cx="8321040" cy="82296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11480" y="4041648"/>
            <a:ext cx="54864" cy="82296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39496" y="41056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BOX PLOTS?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39496" y="43159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× full distribution = 15 histograms if done naively. Box plots compress each year to a single element (median, IQR, whiskers), making year-over-year evolution readable in one panel. The non-parametric summary is appropriate because food prices are right-skewed — a mean ± SD summary would be misleading.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— Did Devaluations Significantly Raise Food Prices?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8 / 14</a:t>
            </a:r>
            <a:endParaRPr lang="en-US" sz="8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40180"/>
            <a:ext cx="5486400" cy="25141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914400"/>
            <a:ext cx="2743200" cy="292608"/>
          </a:xfrm>
          <a:prstGeom prst="rect">
            <a:avLst/>
          </a:prstGeom>
          <a:solidFill>
            <a:srgbClr val="1C66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H1 SUPPORTED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80760" y="1298448"/>
            <a:ext cx="2743200" cy="65836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44768" y="13258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0.000416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13258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Devaluation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2029968"/>
            <a:ext cx="2743200" cy="65836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44768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0.008212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89520" y="2057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Devaluation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2761488"/>
            <a:ext cx="2743200" cy="65836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44768" y="27889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confidence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6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89520" y="27889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 &lt; 0.05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80760" y="3520440"/>
            <a:ext cx="2743200" cy="1188720"/>
          </a:xfrm>
          <a:prstGeom prst="rect">
            <a:avLst/>
          </a:prstGeom>
          <a:solidFill>
            <a:srgbClr val="F0E0C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80760" y="3520440"/>
            <a:ext cx="54864" cy="118872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08776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MANN-WHITNEY U (NOT T-TEST)?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08776" y="379476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confirmed non-normality in all price distributions (p&lt;0.001). The t-test requires normality. Mann-Whitney U is rank-based with no distributional assumptions — it tests whether one distribution is stochastically larger than the other. That is exactly the right question for devaluation analysis.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40965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before devaluation  ·  Red = after devaluation  ·  Left panel: 2016  ·  Right panel: 2022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— Are Cairo Prices Higher Than the National Average?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9 / 14</a:t>
            </a:r>
            <a:endParaRPr lang="en-US" sz="8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280160"/>
            <a:ext cx="5760720" cy="24688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914400"/>
            <a:ext cx="2468880" cy="292608"/>
          </a:xfrm>
          <a:prstGeom prst="rect">
            <a:avLst/>
          </a:prstGeom>
          <a:solidFill>
            <a:srgbClr val="1C66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5080" y="914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H2 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55080" y="1261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&gt; National for all 12 staple commodities tested.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55080" y="1719072"/>
            <a:ext cx="2468880" cy="91440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28232" y="175564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(cotton)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28232" y="20116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peak ~87 EGP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peak ~25 EGP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 premium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55080" y="2706624"/>
            <a:ext cx="2468880" cy="91440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28232" y="27432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flour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28232" y="2999232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fully transmitted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working here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55080" y="3694176"/>
            <a:ext cx="2468880" cy="91440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28232" y="373075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Lentils / beans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28232" y="3986784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~25–30% urban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premium. Higher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costs.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4178808"/>
            <a:ext cx="5760720" cy="685800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4178808"/>
            <a:ext cx="54864" cy="68580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9496" y="424281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VIOLIN PLOTS (NOT BAR CHARTS)?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9496" y="4453128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commodities have bimodal price distributions — a pre-2016 cluster and a post-2022 cluster. A bar of means falls between those two modes, representing a price that almost never actually occurred. Violin plots show the full empirical density, making structural price-level shifts visible without any parametric assumptions.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 — Do Staple Foods Inflate Faster Than Non-Staples?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10 / 14</a:t>
            </a:r>
            <a:endParaRPr lang="en-US" sz="800" dirty="0"/>
          </a:p>
        </p:txBody>
      </p:sp>
      <p:pic>
        <p:nvPicPr>
          <p:cNvPr id="5" name="Image 0" descr="/home/claude/h3_inflation_boxen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4846320" cy="2926080"/>
          </a:xfrm>
          <a:prstGeom prst="rect">
            <a:avLst/>
          </a:prstGeom>
        </p:spPr>
      </p:pic>
      <p:pic>
        <p:nvPicPr>
          <p:cNvPr id="6" name="Image 1" descr="/home/claude/inflation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4960" y="914400"/>
            <a:ext cx="3429000" cy="1645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25968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month-over-month inflation rates across all commodities. Centered near zero, right-skewed — inflation comes in bursts, not as a steady grind.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394960" y="3127248"/>
            <a:ext cx="3429000" cy="292608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394960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H3 NOT SUPPORTED — p = 0.3094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394960" y="3493008"/>
            <a:ext cx="3429000" cy="530352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0" y="3529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 mean: </a:t>
            </a:r>
            <a:r>
              <a:rPr lang="en-US" sz="1000" b="1" dirty="0">
                <a:solidFill>
                  <a:srgbClr val="9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2.41%</a:t>
            </a: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Non-Staple mean: </a:t>
            </a:r>
            <a:r>
              <a:rPr lang="en-US" sz="1000" b="1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is not statistically significant.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3913632"/>
            <a:ext cx="8321040" cy="950976"/>
          </a:xfrm>
          <a:prstGeom prst="rect">
            <a:avLst/>
          </a:prstGeom>
          <a:solidFill>
            <a:srgbClr val="F0E0C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11480" y="3913632"/>
            <a:ext cx="54864" cy="950976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39496" y="39776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NULL RESULT MEANS — AND WHY ANOVA HERE (NOT MANN-WHITNEY)?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9496" y="4187952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inflation in Egypt hits the whole basket, not just staples. The macro FX driver overrides commodity-specific dynamics — meaning commodity-specific price caps provide uneven protection. ANOVA was used (not Mann-Whitney) because H3 compares mean monthly inflation rates — a derived variable that approaches normality by the Central Limit Theorem — rather than raw price distributions as in H1.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Inter-Commodity Price Correlations — One Dominant Driver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11 / 14</a:t>
            </a:r>
            <a:endParaRPr lang="en-US" sz="800" dirty="0"/>
          </a:p>
        </p:txBody>
      </p:sp>
      <p:pic>
        <p:nvPicPr>
          <p:cNvPr id="5" name="Image 0" descr="/home/claude/correlation_heatmap_improv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530352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914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Correlation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508760"/>
            <a:ext cx="2834640" cy="96012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0" y="1508760"/>
            <a:ext cx="54864" cy="96012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53328" y="1536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&gt; 0.90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53328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commodity pairs — a single latent factor (exchange rate) drives price movements across dairy, meat, oils, and cereals simultaneously.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2532888"/>
            <a:ext cx="2834640" cy="96012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2532888"/>
            <a:ext cx="54864" cy="960120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53328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&gt; 0.94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53328" y="2852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oil varieties (cotton, maize, sunflower, mixed) show near-perfect inter-correlation — identical import cost exposure.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3557016"/>
            <a:ext cx="2834640" cy="960120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3557016"/>
            <a:ext cx="54864" cy="96012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53328" y="35844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53328" y="387705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 and artificial ghee show weaker correlations — likely locally price-set, insulated from FX shocks.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0" y="4572000"/>
            <a:ext cx="2834640" cy="274320"/>
          </a:xfrm>
          <a:prstGeom prst="rect">
            <a:avLst/>
          </a:prstGeom>
          <a:solidFill>
            <a:srgbClr val="F0E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43600" y="4572000"/>
            <a:ext cx="54864" cy="274320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53328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2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not Pearson — food prices are non-normal; Spearman's rank-based coefficient handles skew, outliers and shock-period non-linearities correctly.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Price Prediction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1905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12 / 14</a:t>
            </a:r>
            <a:endParaRPr lang="en-US" sz="800" dirty="0"/>
          </a:p>
        </p:txBody>
      </p:sp>
      <p:pic>
        <p:nvPicPr>
          <p:cNvPr id="5" name="Image 0" descr="/home/claude/regression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566928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914400"/>
            <a:ext cx="2560320" cy="1097280"/>
          </a:xfrm>
          <a:prstGeom prst="rect">
            <a:avLst/>
          </a:prstGeom>
          <a:solidFill>
            <a:srgbClr val="0C6B5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914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0.9962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63640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price variance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the model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2560320" cy="84124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36792" y="2176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fit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36792" y="244144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track the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perfect-fit diagonal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0–175 EGP range.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3063240"/>
            <a:ext cx="2560320" cy="84124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36792" y="30906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residuals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36792" y="335584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centered at zero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direction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trend in mistakes.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63640" y="3977640"/>
            <a:ext cx="2560320" cy="841248"/>
          </a:xfrm>
          <a:prstGeom prst="rect">
            <a:avLst/>
          </a:prstGeom>
          <a:solidFill>
            <a:srgbClr val="F7F4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36792" y="40050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Heteroscedasticity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36792" y="427024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spread above 80 EGP: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freely-traded goods became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volatile post-2022.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4023360"/>
            <a:ext cx="5669280" cy="749808"/>
          </a:xfrm>
          <a:prstGeom prst="rect">
            <a:avLst/>
          </a:prstGeom>
          <a:solidFill>
            <a:srgbClr val="EAF4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4023360"/>
            <a:ext cx="54864" cy="749808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9496" y="4087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(NOT RANDOM FOREST OR NEURAL NET)?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9496" y="429768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explanation, not prediction. Linear coefficients directly encode each feature's contribution to price — the information needed for policy recommendations. With Spearman r&gt;0.90 across all commodity pairs, the data is near-linearly separable: a complex model adds no predictive gain while destroying interpretability. The heteroscedasticity at high prices suggests a log-price extension as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C47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347472"/>
          </a:xfrm>
          <a:prstGeom prst="rect">
            <a:avLst/>
          </a:prstGeom>
          <a:solidFill>
            <a:srgbClr val="9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SUPPORTED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Devaluations drove prices up — hard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2016 and 2022 devaluations caused statistically significant food price increases (p&lt;0.05 in both cases). Sunflower oil went from 5 EGP to 41 EGP over the study period. The 2022 shock was worse in absolute terms because Russia-Ukraine compounded the FX effect.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14800" cy="347472"/>
          </a:xfrm>
          <a:prstGeom prst="rect">
            <a:avLst/>
          </a:prstGeom>
          <a:solidFill>
            <a:srgbClr val="0C6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07899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SUPPORTED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Cairo pays more for everything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79222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prices exceed the national average for all 12 staple commodities tested. The gap is widest for freely-traded oils (3.5× premium on cotton oil) and narrowest for subsidized goods — wheat flour and potatoes near-equalize. The subsidy works where it targets.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114800" cy="347472"/>
          </a:xfrm>
          <a:prstGeom prst="rect">
            <a:avLst/>
          </a:prstGeom>
          <a:solidFill>
            <a:srgbClr val="C478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99923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NOT SUPPORTED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 hits the whole basket, not just staples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between staple and non-staple monthly inflation rates (ANOVA p=0.31). This means the FX channel is the dominant force — not commodity-specific supply shocks. Category-specific price controls provide uneven protection against a macro-level shock.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9923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999232"/>
            <a:ext cx="4114800" cy="347472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299923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0.9962 — prices are highly predictable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71246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captures 99.6% of all price variance. Consistent with the near-universal Spearman r&gt;0.90 across 30+ commodity pairs. Egypt's food market behaves as a tightly integrated system with one dominant latent factor: the exchange rate.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Food Crisis Analysis  ·  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754880" cy="0"/>
          </a:xfrm>
          <a:prstGeom prst="line">
            <a:avLst/>
          </a:prstGeom>
          <a:noFill/>
          <a:ln w="25400">
            <a:solidFill>
              <a:srgbClr val="C47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food crisis is fundamentally a currency problem. The macro FX channel hits the entire food basket simultaneously — as the H3 rejection confirms. Commodity-specific interventions provide uneven protection against a systemic shock. The intervention has to work at the macro level.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754880" cy="6126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11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B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Reserves &amp; IMF Standby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24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FX reserves and standby credit specifically for food import financing — to compress exchange rate overshoot when devaluations hit.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4754880" cy="6126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411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B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Diversification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wheat sourcing concentration from Russia/Ukraine. Geographic dependency amplified the 2022 shock dramatically.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4754880" cy="6126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666744"/>
            <a:ext cx="411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B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Cash Transfers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59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Egypt Food Subsidy Card and index transfer amounts to actual food basket inflation monthly — broader, more cost-effective than commodity subsidies.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34256"/>
            <a:ext cx="4754880" cy="6126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334256"/>
            <a:ext cx="411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9B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6268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5–6 sentinel commodities monthly. With r&gt;0.90 across the basket, a small set reliably proxies the entire market.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274320"/>
            <a:ext cx="3337560" cy="4572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347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B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Tools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77840" y="795528"/>
            <a:ext cx="3154680" cy="0"/>
          </a:xfrm>
          <a:prstGeom prst="line">
            <a:avLst/>
          </a:prstGeom>
          <a:noFill/>
          <a:ln w="12700">
            <a:solidFill>
              <a:srgbClr val="0C6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8961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VAM Food Security — Egypt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 Dataset (HDXL)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1554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Egypt Market Listing Dataset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Data Exchange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22128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Suite of Food Security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— Egypt · FAOSTAT 2024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8712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of Egypt · Monetary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Announcements 2016 &amp; 2022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35295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(2023). Egypt Economic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A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Crisis to Transformation.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Matplotlib · Seaborn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9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· Scikit-learn · Plotly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C-DE211 · EUI · Spring 2026  ·  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1897</Words>
  <Application>Microsoft Office PowerPoint</Application>
  <PresentationFormat>On-screen Show (16:9)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 Food Crisis Analysis</dc:title>
  <dc:subject>C-DE211 Project 3 · Spring 2026</dc:subject>
  <dc:creator>EUI Data Analysis Team</dc:creator>
  <cp:lastModifiedBy>Nader Hassan Mohamed Abdelrahman Fayed</cp:lastModifiedBy>
  <cp:revision>2</cp:revision>
  <dcterms:created xsi:type="dcterms:W3CDTF">2026-05-02T11:26:15Z</dcterms:created>
  <dcterms:modified xsi:type="dcterms:W3CDTF">2026-05-02T13:30:52Z</dcterms:modified>
</cp:coreProperties>
</file>